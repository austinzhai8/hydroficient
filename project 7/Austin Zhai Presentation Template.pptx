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DM Serif Text"/>
      <p:regular r:id="rId23"/>
      <p: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E651B9-7182-4498-AD59-563B7D28FE4F}">
  <a:tblStyle styleId="{89E651B9-7182-4498-AD59-563B7D28FE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DMSerifText-italic.fntdata"/><Relationship Id="rId23" Type="http://schemas.openxmlformats.org/officeDocument/2006/relationships/font" Target="fonts/DMSerifTex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de5b674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cde5b6746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DM Serif Text"/>
                <a:ea typeface="DM Serif Text"/>
                <a:cs typeface="DM Serif Text"/>
                <a:sym typeface="DM Serif Text"/>
              </a:rPr>
              <a:t>IoT Security Capstone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7A657"/>
                </a:solidFill>
                <a:latin typeface="Inter"/>
                <a:ea typeface="Inter"/>
                <a:cs typeface="Inter"/>
                <a:sym typeface="Inter"/>
              </a:rPr>
              <a:t>Experiment Results, Insights &amp; Recommendations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6400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[Your Name]  |  [Date]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200400" y="2926080"/>
            <a:ext cx="2743200" cy="25400"/>
          </a:xfrm>
          <a:prstGeom prst="rect">
            <a:avLst/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The Threat: Unprotected IoT Pipelines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happens when MQTT messages travel without protection?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005840" y="1645920"/>
            <a:ext cx="2286000" cy="2286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25400">
            <a:solidFill>
              <a:srgbClr val="0C5AD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88720" y="18288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C5ADB"/>
                </a:solidFill>
                <a:latin typeface="DM Serif Text"/>
                <a:ea typeface="DM Serif Text"/>
                <a:cs typeface="DM Serif Text"/>
                <a:sym typeface="DM Serif Text"/>
              </a:rPr>
              <a:t>Eavesdrop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188720" y="23774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[Describe what this attack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does and why it's dangerous]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3566160" y="1645920"/>
            <a:ext cx="2286000" cy="2286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25400">
            <a:solidFill>
              <a:srgbClr val="FF26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749040" y="18288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2600"/>
                </a:solidFill>
                <a:latin typeface="DM Serif Text"/>
                <a:ea typeface="DM Serif Text"/>
                <a:cs typeface="DM Serif Text"/>
                <a:sym typeface="DM Serif Text"/>
              </a:rPr>
              <a:t>Inject Fake Data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749040" y="23774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[Describe what this attack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does and why it's dangerous]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126479" y="1645920"/>
            <a:ext cx="2286000" cy="22860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25400">
            <a:solidFill>
              <a:srgbClr val="3E1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309359" y="182880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E1FBC"/>
                </a:solidFill>
                <a:latin typeface="DM Serif Text"/>
                <a:ea typeface="DM Serif Text"/>
                <a:cs typeface="DM Serif Text"/>
                <a:sym typeface="DM Serif Text"/>
              </a:rPr>
              <a:t>Replay Attack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309359" y="237744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[Describe what this attack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does and why it's dangerous]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5840" y="4206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2600"/>
                </a:solidFill>
                <a:latin typeface="Inter"/>
                <a:ea typeface="Inter"/>
                <a:cs typeface="Inter"/>
                <a:sym typeface="Inter"/>
              </a:rPr>
              <a:t>[Summarize: Why are unprotected IoT pipelines vulnerable?]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Defense Architecture: Four Layers of Protection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Each layer catches what the previous one can't.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48640" y="1645920"/>
            <a:ext cx="19202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7A6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51560" y="1508760"/>
            <a:ext cx="914400" cy="27432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Defense 1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40080" y="19202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550D0"/>
                </a:solidFill>
                <a:latin typeface="DM Serif Text"/>
                <a:ea typeface="DM Serif Text"/>
                <a:cs typeface="DM Serif Text"/>
                <a:sym typeface="DM Serif Text"/>
              </a:rPr>
              <a:t>[Name]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0080" y="25603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does this defense do?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attack does it stop?]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46888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7A657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697480" y="1645920"/>
            <a:ext cx="19202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7A6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200400" y="1508760"/>
            <a:ext cx="914400" cy="27432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Defense 2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788920" y="19202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550D0"/>
                </a:solidFill>
                <a:latin typeface="DM Serif Text"/>
                <a:ea typeface="DM Serif Text"/>
                <a:cs typeface="DM Serif Text"/>
                <a:sym typeface="DM Serif Text"/>
              </a:rPr>
              <a:t>[Name]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788920" y="25603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does this defense do?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attack does it stop?]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1772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7A657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4846320" y="1645920"/>
            <a:ext cx="19202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7A6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349240" y="1508760"/>
            <a:ext cx="914400" cy="27432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Defense 3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937760" y="19202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550D0"/>
                </a:solidFill>
                <a:latin typeface="DM Serif Text"/>
                <a:ea typeface="DM Serif Text"/>
                <a:cs typeface="DM Serif Text"/>
                <a:sym typeface="DM Serif Text"/>
              </a:rPr>
              <a:t>[Name]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937760" y="25603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does this defense do?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attack does it stop?]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6656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7A657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6995160" y="1645920"/>
            <a:ext cx="19202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7A6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498080" y="1508760"/>
            <a:ext cx="914400" cy="27432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Defense 4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086600" y="192024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550D0"/>
                </a:solidFill>
                <a:latin typeface="DM Serif Text"/>
                <a:ea typeface="DM Serif Text"/>
                <a:cs typeface="DM Serif Text"/>
                <a:sym typeface="DM Serif Text"/>
              </a:rPr>
              <a:t>[Name]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086600" y="25603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does this defense do?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attack does it stop?]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[Explain: Why do you need all four defenses? What happens if you remove one?]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Experiment Setup: Three-Phase Attack Simulator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 controlled test against the live pipeline to verify every defense works.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48640" y="1554480"/>
            <a:ext cx="3840480" cy="292608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[Insert: Diagram of your experiment setup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e.g., Publisher → Broker → Subscriber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+ Attacker terminal + Dashboard]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550D0"/>
                </a:solidFill>
                <a:latin typeface="DM Serif Text"/>
                <a:ea typeface="DM Serif Text"/>
                <a:cs typeface="DM Serif Text"/>
                <a:sym typeface="DM Serif Text"/>
              </a:rPr>
              <a:t>Your Setup Process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754880" y="210312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[Describe how you set up the experiment: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• What components were running?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• How did you launch the attack simulator?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• What were you monitoring and how?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Write it as a step-by-step process</a:t>
            </a:r>
            <a:b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in your own words.]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Attack Results: Every Attack Blocked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Which defense caught each attack phase — and why it works.</a:t>
            </a:r>
            <a:endParaRPr/>
          </a:p>
        </p:txBody>
      </p:sp>
      <p:graphicFrame>
        <p:nvGraphicFramePr>
          <p:cNvPr id="149" name="Google Shape;149;p17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{89E651B9-7182-4498-AD59-563B7D28FE4F}</a:tableStyleId>
              </a:tblPr>
              <a:tblGrid>
                <a:gridCol w="1645925"/>
                <a:gridCol w="2011675"/>
                <a:gridCol w="2011675"/>
                <a:gridCol w="23774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Attack Phase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5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the Attacker Tried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5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Defense That Caught 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5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Why It Works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550D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1: Eavesdrop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2: Inject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3: Replay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Google Shape;150;p17"/>
          <p:cNvSpPr/>
          <p:nvPr/>
        </p:nvSpPr>
        <p:spPr>
          <a:xfrm>
            <a:off x="2286000" y="3840480"/>
            <a:ext cx="4572000" cy="45720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✅  Result: 0 attacks succeeded  |  100% blocked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05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Dashboard: Attack Detected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Red alerts, shaking zone cards — every attack caught in real time.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[Insert image or video: Dashboard during active attack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Showing red alert banner, shaking zone cards,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attack type labels, real-time rejection logs]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365751" y="274325"/>
            <a:ext cx="742500" cy="25740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Bonus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169840" y="27432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DM Serif Text"/>
                <a:ea typeface="DM Serif Text"/>
                <a:cs typeface="DM Serif Text"/>
                <a:sym typeface="DM Serif Text"/>
              </a:rPr>
              <a:t>Security Analysis Chart (Optional)</a:t>
            </a:r>
            <a:endParaRPr sz="2400">
              <a:latin typeface="DM Serif Text"/>
              <a:ea typeface="DM Serif Text"/>
              <a:cs typeface="DM Serif Text"/>
              <a:sym typeface="DM Serif Tex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005840" y="9144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Turn your experiment data into a visual argument.</a:t>
            </a:r>
            <a:endParaRPr sz="12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731520" y="1371600"/>
            <a:ext cx="7680900" cy="34746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[Insert your analysis chart here]</a:t>
            </a: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Suggestions:</a:t>
            </a: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• Defense effectiveness: rejection rates across 4 configurations × 3 attack types (Project 6)</a:t>
            </a: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• TLS latency impact: with vs. without encryption (Project 4)</a:t>
            </a: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• mTLS overhead: one-way vs. mutual TLS connection time (Project 5)</a:t>
            </a: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1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Pick whichever dataset tells the clearest story.</a:t>
            </a:r>
            <a:endParaRPr i="1" sz="11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06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Stats: Attacks Blocked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The numbers tell the story — every attack rejected, every valid message accepted.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[Insert image or video: Dashboard stats footer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Showing Valid Messages count, Attacks Blocked count,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Total Processed count]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07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Custom Dashboard: Making It Mine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Personalized branding, AI-generated color theme, custom alert rules.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 cap="flat" cmpd="sng" w="19050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[Insert image or video: Your customized dashboard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Showing custom title, your color theme,</a:t>
            </a:r>
            <a:b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1" lang="en-US" sz="11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renamed zones, live data flowing]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08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Key Insights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this experiment revealed about IoT security.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731520" y="1417320"/>
            <a:ext cx="274320" cy="274320"/>
          </a:xfrm>
          <a:prstGeom prst="ellipse">
            <a:avLst/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188720" y="1371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No single defense is enough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1188720" y="1691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mTLS stops outsiders but not compromised insiders. HMAC stops forgeries but not replays. You need all layers working together.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[Your insight here]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188720" y="2560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did you learn from this experiment?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surprised you?]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731520" y="3154680"/>
            <a:ext cx="274320" cy="274320"/>
          </a:xfrm>
          <a:prstGeom prst="ellipse">
            <a:avLst/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188720" y="3108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[Your insight here]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18872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would you do differently?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worked better than expected?]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731520" y="4023359"/>
            <a:ext cx="274320" cy="274320"/>
          </a:xfrm>
          <a:prstGeom prst="ellipse">
            <a:avLst/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188720" y="3977639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[Your insight here]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1188720" y="4297679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[Any other observation or takeaway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from running the attack simulator?]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365760" y="274320"/>
            <a:ext cx="457200" cy="320040"/>
          </a:xfrm>
          <a:prstGeom prst="roundRect">
            <a:avLst>
              <a:gd fmla="val 16667" name="adj"/>
            </a:avLst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09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100584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Recommendations for Grand Marina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1005840" y="914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What should happen next to secure the IoT infrastructure at scale.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731520" y="1417320"/>
            <a:ext cx="274320" cy="274320"/>
          </a:xfrm>
          <a:prstGeom prst="ellipse">
            <a:avLst/>
          </a:prstGeom>
          <a:solidFill>
            <a:srgbClr val="0C5AD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1188720" y="13716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[Recommendation 1]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188720" y="16916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should Grand Marina do next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to improve their IoT security?]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0C5AD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1188720" y="2240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[Recommendation 2]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1188720" y="2560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process or policy change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would strengthen the defenses?]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731520" y="3154680"/>
            <a:ext cx="274320" cy="274320"/>
          </a:xfrm>
          <a:prstGeom prst="ellipse">
            <a:avLst/>
          </a:prstGeom>
          <a:solidFill>
            <a:srgbClr val="0C5AD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188720" y="3108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[Recommendation 3]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18872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[What additional tools or monitoring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would you suggest deploying?]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731520" y="4023359"/>
            <a:ext cx="274320" cy="274320"/>
          </a:xfrm>
          <a:prstGeom prst="ellipse">
            <a:avLst/>
          </a:prstGeom>
          <a:solidFill>
            <a:srgbClr val="0C5AD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188720" y="3977639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DM Serif Text"/>
                <a:ea typeface="DM Serif Text"/>
                <a:cs typeface="DM Serif Text"/>
                <a:sym typeface="DM Serif Text"/>
              </a:rPr>
              <a:t>[Recommendation 4]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188720" y="4297679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[Any other recommendation based</a:t>
            </a:r>
            <a:b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on what you learned?]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DM Serif Text"/>
                <a:ea typeface="DM Serif Text"/>
                <a:cs typeface="DM Serif Text"/>
                <a:sym typeface="DM Serif Text"/>
              </a:rPr>
              <a:t>Questions?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3200400" y="2651760"/>
            <a:ext cx="2743200" cy="25400"/>
          </a:xfrm>
          <a:prstGeom prst="rect">
            <a:avLst/>
          </a:prstGeom>
          <a:solidFill>
            <a:srgbClr val="07A6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1371600" y="3017520"/>
            <a:ext cx="640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