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nter"/>
      <p:regular r:id="rId18"/>
      <p:bold r:id="rId19"/>
      <p:italic r:id="rId20"/>
      <p:boldItalic r:id="rId21"/>
    </p:embeddedFont>
    <p:embeddedFont>
      <p:font typeface="DM Serif Text"/>
      <p:regular r:id="rId22"/>
      <p:italic r:id="rId23"/>
    </p:embeddedFont>
    <p:embeddedFont>
      <p:font typeface="Inter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6B5C7B-3427-4A27-A5F0-1C2203BAA935}">
  <a:tblStyle styleId="{396B5C7B-3427-4A27-A5F0-1C2203BAA93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DMSerifText-regular.fntdata"/><Relationship Id="rId21" Type="http://schemas.openxmlformats.org/officeDocument/2006/relationships/font" Target="fonts/Inter-boldItalic.fntdata"/><Relationship Id="rId24" Type="http://schemas.openxmlformats.org/officeDocument/2006/relationships/font" Target="fonts/InterMedium-regular.fntdata"/><Relationship Id="rId23" Type="http://schemas.openxmlformats.org/officeDocument/2006/relationships/font" Target="fonts/DMSerifTex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italic.fntdata"/><Relationship Id="rId25" Type="http://schemas.openxmlformats.org/officeDocument/2006/relationships/font" Target="fonts/InterMedium-bold.fntdata"/><Relationship Id="rId27" Type="http://schemas.openxmlformats.org/officeDocument/2006/relationships/font" Target="fonts/Inter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1A"/>
        </a:solidFill>
      </p:bgPr>
    </p:bg>
    <p:spTree>
      <p:nvGrpSpPr>
        <p:cNvPr id="83" name="Shape 83"/>
        <p:cNvGrpSpPr/>
        <p:nvPr/>
      </p:nvGrpSpPr>
      <p:grpSpPr>
        <a:xfrm>
          <a:off x="0" y="0"/>
          <a:ext cx="0" cy="0"/>
          <a:chOff x="0" y="0"/>
          <a:chExt cx="0" cy="0"/>
        </a:xfrm>
      </p:grpSpPr>
      <p:sp>
        <p:nvSpPr>
          <p:cNvPr id="84" name="Google Shape;84;p13"/>
          <p:cNvSpPr txBox="1"/>
          <p:nvPr/>
        </p:nvSpPr>
        <p:spPr>
          <a:xfrm>
            <a:off x="1371600" y="1097280"/>
            <a:ext cx="6400800" cy="91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FFFFFF"/>
                </a:solidFill>
                <a:latin typeface="DM Serif Text"/>
                <a:ea typeface="DM Serif Text"/>
                <a:cs typeface="DM Serif Text"/>
                <a:sym typeface="DM Serif Text"/>
              </a:rPr>
              <a:t>IoT Security Capstone</a:t>
            </a:r>
            <a:endParaRPr b="0" i="0" sz="1400" u="none" cap="none" strike="noStrike">
              <a:solidFill>
                <a:srgbClr val="000000"/>
              </a:solidFill>
              <a:latin typeface="Arial"/>
              <a:ea typeface="Arial"/>
              <a:cs typeface="Arial"/>
              <a:sym typeface="Arial"/>
            </a:endParaRPr>
          </a:p>
        </p:txBody>
      </p:sp>
      <p:sp>
        <p:nvSpPr>
          <p:cNvPr id="85" name="Google Shape;85;p13"/>
          <p:cNvSpPr txBox="1"/>
          <p:nvPr/>
        </p:nvSpPr>
        <p:spPr>
          <a:xfrm>
            <a:off x="1371600" y="2011680"/>
            <a:ext cx="640080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7A657"/>
                </a:solidFill>
                <a:latin typeface="Inter"/>
                <a:ea typeface="Inter"/>
                <a:cs typeface="Inter"/>
                <a:sym typeface="Inter"/>
              </a:rPr>
              <a:t>Experiment Results, Insights &amp; Recommendations</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1371600" y="3200400"/>
            <a:ext cx="64008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Medium"/>
                <a:ea typeface="Inter Medium"/>
                <a:cs typeface="Inter Medium"/>
                <a:sym typeface="Inter Medium"/>
              </a:rPr>
              <a:t>Austin Zhai  |  June 2026</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a:off x="3200400" y="2926080"/>
            <a:ext cx="2743200" cy="25400"/>
          </a:xfrm>
          <a:prstGeom prst="rect">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01</a:t>
            </a:r>
            <a:endParaRPr b="0" i="0" sz="1400" u="none" cap="none" strike="noStrike">
              <a:solidFill>
                <a:srgbClr val="000000"/>
              </a:solidFill>
              <a:latin typeface="Arial"/>
              <a:ea typeface="Arial"/>
              <a:cs typeface="Arial"/>
              <a:sym typeface="Arial"/>
            </a:endParaRPr>
          </a:p>
        </p:txBody>
      </p:sp>
      <p:sp>
        <p:nvSpPr>
          <p:cNvPr id="93" name="Google Shape;93;p14"/>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The Threat: Unprotected IoT Pipelines</a:t>
            </a:r>
            <a:endParaRPr b="0" i="0" sz="1400" u="none" cap="none" strike="noStrike">
              <a:solidFill>
                <a:srgbClr val="000000"/>
              </a:solidFill>
              <a:latin typeface="Arial"/>
              <a:ea typeface="Arial"/>
              <a:cs typeface="Arial"/>
              <a:sym typeface="Arial"/>
            </a:endParaRPr>
          </a:p>
        </p:txBody>
      </p:sp>
      <p:sp>
        <p:nvSpPr>
          <p:cNvPr id="94" name="Google Shape;94;p14"/>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What happens when MQTT messages travel without protection?</a:t>
            </a:r>
            <a:endParaRPr b="0" i="0" sz="1400" u="none" cap="none" strike="noStrike">
              <a:solidFill>
                <a:srgbClr val="000000"/>
              </a:solidFill>
              <a:latin typeface="Arial"/>
              <a:ea typeface="Arial"/>
              <a:cs typeface="Arial"/>
              <a:sym typeface="Arial"/>
            </a:endParaRPr>
          </a:p>
        </p:txBody>
      </p:sp>
      <p:sp>
        <p:nvSpPr>
          <p:cNvPr id="95" name="Google Shape;95;p14"/>
          <p:cNvSpPr/>
          <p:nvPr/>
        </p:nvSpPr>
        <p:spPr>
          <a:xfrm>
            <a:off x="1005840" y="1645920"/>
            <a:ext cx="2286000" cy="2286000"/>
          </a:xfrm>
          <a:prstGeom prst="roundRect">
            <a:avLst>
              <a:gd fmla="val 16667" name="adj"/>
            </a:avLst>
          </a:prstGeom>
          <a:solidFill>
            <a:srgbClr val="F5F5F5"/>
          </a:solidFill>
          <a:ln cap="flat" cmpd="sng" w="25400">
            <a:solidFill>
              <a:srgbClr val="0C5AD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1188720" y="1828800"/>
            <a:ext cx="192024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C5ADB"/>
                </a:solidFill>
                <a:latin typeface="DM Serif Text"/>
                <a:ea typeface="DM Serif Text"/>
                <a:cs typeface="DM Serif Text"/>
                <a:sym typeface="DM Serif Text"/>
              </a:rPr>
              <a:t>Eavesdrop</a:t>
            </a:r>
            <a:endParaRPr b="0" i="0" sz="1400" u="none" cap="none" strike="noStrike">
              <a:solidFill>
                <a:srgbClr val="000000"/>
              </a:solidFill>
              <a:latin typeface="Arial"/>
              <a:ea typeface="Arial"/>
              <a:cs typeface="Arial"/>
              <a:sym typeface="Arial"/>
            </a:endParaRPr>
          </a:p>
        </p:txBody>
      </p:sp>
      <p:sp>
        <p:nvSpPr>
          <p:cNvPr id="97" name="Google Shape;97;p14"/>
          <p:cNvSpPr txBox="1"/>
          <p:nvPr/>
        </p:nvSpPr>
        <p:spPr>
          <a:xfrm>
            <a:off x="1188720" y="2285990"/>
            <a:ext cx="19203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Inter"/>
                <a:ea typeface="Inter"/>
                <a:cs typeface="Inter"/>
                <a:sym typeface="Inter"/>
              </a:rPr>
              <a:t>An attacker subscribes to all MQTT topics and reads every sensor message in plain text. No credentials required. Pressure, flow rates, and device IDs are fully exposed to anyone on the network.</a:t>
            </a:r>
            <a:endParaRPr b="0" i="0" sz="1400" u="none" cap="none" strike="noStrike">
              <a:solidFill>
                <a:srgbClr val="000000"/>
              </a:solidFill>
              <a:latin typeface="Arial"/>
              <a:ea typeface="Arial"/>
              <a:cs typeface="Arial"/>
              <a:sym typeface="Arial"/>
            </a:endParaRPr>
          </a:p>
        </p:txBody>
      </p:sp>
      <p:sp>
        <p:nvSpPr>
          <p:cNvPr id="98" name="Google Shape;98;p14"/>
          <p:cNvSpPr/>
          <p:nvPr/>
        </p:nvSpPr>
        <p:spPr>
          <a:xfrm>
            <a:off x="3566160" y="1645920"/>
            <a:ext cx="2286000" cy="2286000"/>
          </a:xfrm>
          <a:prstGeom prst="roundRect">
            <a:avLst>
              <a:gd fmla="val 16667" name="adj"/>
            </a:avLst>
          </a:prstGeom>
          <a:solidFill>
            <a:srgbClr val="F5F5F5"/>
          </a:solidFill>
          <a:ln cap="flat" cmpd="sng" w="25400">
            <a:solidFill>
              <a:srgbClr val="FF26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txBox="1"/>
          <p:nvPr/>
        </p:nvSpPr>
        <p:spPr>
          <a:xfrm>
            <a:off x="3749040" y="1828800"/>
            <a:ext cx="192024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2600"/>
                </a:solidFill>
                <a:latin typeface="DM Serif Text"/>
                <a:ea typeface="DM Serif Text"/>
                <a:cs typeface="DM Serif Text"/>
                <a:sym typeface="DM Serif Text"/>
              </a:rPr>
              <a:t>Inject Fake Data</a:t>
            </a:r>
            <a:endParaRPr b="0" i="0" sz="1400" u="none" cap="none" strike="noStrike">
              <a:solidFill>
                <a:srgbClr val="000000"/>
              </a:solidFill>
              <a:latin typeface="Arial"/>
              <a:ea typeface="Arial"/>
              <a:cs typeface="Arial"/>
              <a:sym typeface="Arial"/>
            </a:endParaRPr>
          </a:p>
        </p:txBody>
      </p:sp>
      <p:sp>
        <p:nvSpPr>
          <p:cNvPr id="100" name="Google Shape;100;p14"/>
          <p:cNvSpPr txBox="1"/>
          <p:nvPr/>
        </p:nvSpPr>
        <p:spPr>
          <a:xfrm>
            <a:off x="3749003" y="2146315"/>
            <a:ext cx="1920300" cy="178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Inter"/>
                <a:ea typeface="Inter"/>
                <a:cs typeface="Inter"/>
                <a:sym typeface="Inter"/>
              </a:rPr>
              <a:t>An attacker publishes a forged message with a fake device ID and dangerous sensor values (250 PSI). Without signature verification, the subscriber accepts it as legitimate data, potentially masking real alerts or triggering false ones.</a:t>
            </a:r>
            <a:endParaRPr b="0" i="0" sz="1400" u="none" cap="none" strike="noStrike">
              <a:solidFill>
                <a:srgbClr val="000000"/>
              </a:solidFill>
              <a:latin typeface="Arial"/>
              <a:ea typeface="Arial"/>
              <a:cs typeface="Arial"/>
              <a:sym typeface="Arial"/>
            </a:endParaRPr>
          </a:p>
        </p:txBody>
      </p:sp>
      <p:sp>
        <p:nvSpPr>
          <p:cNvPr id="101" name="Google Shape;101;p14"/>
          <p:cNvSpPr/>
          <p:nvPr/>
        </p:nvSpPr>
        <p:spPr>
          <a:xfrm>
            <a:off x="6126479" y="1645920"/>
            <a:ext cx="2286000" cy="2286000"/>
          </a:xfrm>
          <a:prstGeom prst="roundRect">
            <a:avLst>
              <a:gd fmla="val 16667" name="adj"/>
            </a:avLst>
          </a:prstGeom>
          <a:solidFill>
            <a:srgbClr val="F5F5F5"/>
          </a:solidFill>
          <a:ln cap="flat" cmpd="sng" w="25400">
            <a:solidFill>
              <a:srgbClr val="3E1FB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txBox="1"/>
          <p:nvPr/>
        </p:nvSpPr>
        <p:spPr>
          <a:xfrm>
            <a:off x="6309359" y="1828800"/>
            <a:ext cx="192024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3E1FBC"/>
                </a:solidFill>
                <a:latin typeface="DM Serif Text"/>
                <a:ea typeface="DM Serif Text"/>
                <a:cs typeface="DM Serif Text"/>
                <a:sym typeface="DM Serif Text"/>
              </a:rPr>
              <a:t>Replay Attack</a:t>
            </a:r>
            <a:endParaRPr b="0" i="0" sz="1400" u="none" cap="none" strike="noStrike">
              <a:solidFill>
                <a:srgbClr val="000000"/>
              </a:solidFill>
              <a:latin typeface="Arial"/>
              <a:ea typeface="Arial"/>
              <a:cs typeface="Arial"/>
              <a:sym typeface="Arial"/>
            </a:endParaRPr>
          </a:p>
        </p:txBody>
      </p:sp>
      <p:sp>
        <p:nvSpPr>
          <p:cNvPr id="103" name="Google Shape;103;p14"/>
          <p:cNvSpPr txBox="1"/>
          <p:nvPr/>
        </p:nvSpPr>
        <p:spPr>
          <a:xfrm>
            <a:off x="6176399" y="2116650"/>
            <a:ext cx="2103000" cy="178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Inter"/>
                <a:ea typeface="Inter"/>
                <a:cs typeface="Inter"/>
                <a:sym typeface="Inter"/>
              </a:rPr>
              <a:t>An attacker captures a legitimate sensor message and re-sends it later. The message looks valid, so a basic subscriber accepts it. Old data gets treated as current, allowing the attacker to manipulate the system without generating new traffic.</a:t>
            </a:r>
            <a:endParaRPr b="0" i="0" sz="1400" u="none" cap="none" strike="noStrike">
              <a:solidFill>
                <a:srgbClr val="000000"/>
              </a:solidFill>
              <a:latin typeface="Arial"/>
              <a:ea typeface="Arial"/>
              <a:cs typeface="Arial"/>
              <a:sym typeface="Arial"/>
            </a:endParaRPr>
          </a:p>
        </p:txBody>
      </p:sp>
      <p:sp>
        <p:nvSpPr>
          <p:cNvPr id="104" name="Google Shape;104;p14"/>
          <p:cNvSpPr txBox="1"/>
          <p:nvPr/>
        </p:nvSpPr>
        <p:spPr>
          <a:xfrm>
            <a:off x="1005840" y="4206240"/>
            <a:ext cx="777240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2600"/>
                </a:solidFill>
                <a:latin typeface="Inter"/>
                <a:ea typeface="Inter"/>
                <a:cs typeface="Inter"/>
                <a:sym typeface="Inter"/>
              </a:rPr>
              <a:t>Unprotected MQTT pipelines broadcast all data in plain text, accept messages from any source, and cannot detect whether a message is fresh or has been replayed.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02</a:t>
            </a:r>
            <a:endParaRPr b="0" i="0" sz="1400" u="none" cap="none" strike="noStrike">
              <a:solidFill>
                <a:srgbClr val="000000"/>
              </a:solidFill>
              <a:latin typeface="Arial"/>
              <a:ea typeface="Arial"/>
              <a:cs typeface="Arial"/>
              <a:sym typeface="Arial"/>
            </a:endParaRPr>
          </a:p>
        </p:txBody>
      </p:sp>
      <p:sp>
        <p:nvSpPr>
          <p:cNvPr id="110" name="Google Shape;110;p15"/>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Defense Architecture: Four Layers of Protection</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Each layer catches what the previous one can't.</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548640" y="1645920"/>
            <a:ext cx="1920240" cy="237744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15"/>
          <p:cNvSpPr/>
          <p:nvPr/>
        </p:nvSpPr>
        <p:spPr>
          <a:xfrm>
            <a:off x="1051560" y="1508760"/>
            <a:ext cx="914400" cy="27432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Inter Medium"/>
                <a:ea typeface="Inter Medium"/>
                <a:cs typeface="Inter Medium"/>
                <a:sym typeface="Inter Medium"/>
              </a:rPr>
              <a:t>Defense 1</a:t>
            </a:r>
            <a:endParaRPr b="0" i="0" sz="1400" u="none" cap="none" strike="noStrike">
              <a:solidFill>
                <a:srgbClr val="000000"/>
              </a:solidFill>
              <a:latin typeface="Arial"/>
              <a:ea typeface="Arial"/>
              <a:cs typeface="Arial"/>
              <a:sym typeface="Arial"/>
            </a:endParaRPr>
          </a:p>
        </p:txBody>
      </p:sp>
      <p:sp>
        <p:nvSpPr>
          <p:cNvPr id="114" name="Google Shape;114;p15"/>
          <p:cNvSpPr txBox="1"/>
          <p:nvPr/>
        </p:nvSpPr>
        <p:spPr>
          <a:xfrm>
            <a:off x="640080" y="1920240"/>
            <a:ext cx="173736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550D0"/>
                </a:solidFill>
                <a:latin typeface="DM Serif Text"/>
                <a:ea typeface="DM Serif Text"/>
                <a:cs typeface="DM Serif Text"/>
                <a:sym typeface="DM Serif Text"/>
              </a:rPr>
              <a:t>TLS Encryption</a:t>
            </a:r>
            <a:endParaRPr b="0" i="0" sz="1400" u="none" cap="none" strike="noStrike">
              <a:solidFill>
                <a:srgbClr val="000000"/>
              </a:solidFill>
              <a:latin typeface="Arial"/>
              <a:ea typeface="Arial"/>
              <a:cs typeface="Arial"/>
              <a:sym typeface="Arial"/>
            </a:endParaRPr>
          </a:p>
        </p:txBody>
      </p:sp>
      <p:sp>
        <p:nvSpPr>
          <p:cNvPr id="115" name="Google Shape;115;p15"/>
          <p:cNvSpPr txBox="1"/>
          <p:nvPr/>
        </p:nvSpPr>
        <p:spPr>
          <a:xfrm>
            <a:off x="640080" y="2560320"/>
            <a:ext cx="173736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Encrypts all traffic on port 8883. An eavesdropper intercepting network packets sees only encrypted bytes. Stops passive eavesdropping.</a:t>
            </a:r>
            <a:endParaRPr b="0" i="0" sz="1400" u="none" cap="none" strike="noStrike">
              <a:solidFill>
                <a:srgbClr val="000000"/>
              </a:solidFill>
              <a:latin typeface="Arial"/>
              <a:ea typeface="Arial"/>
              <a:cs typeface="Arial"/>
              <a:sym typeface="Arial"/>
            </a:endParaRPr>
          </a:p>
        </p:txBody>
      </p:sp>
      <p:sp>
        <p:nvSpPr>
          <p:cNvPr id="116" name="Google Shape;116;p15"/>
          <p:cNvSpPr txBox="1"/>
          <p:nvPr/>
        </p:nvSpPr>
        <p:spPr>
          <a:xfrm>
            <a:off x="246888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A657"/>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7" name="Google Shape;117;p15"/>
          <p:cNvSpPr/>
          <p:nvPr/>
        </p:nvSpPr>
        <p:spPr>
          <a:xfrm>
            <a:off x="2697480" y="1645920"/>
            <a:ext cx="1920240" cy="237744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3200400" y="1508760"/>
            <a:ext cx="914400" cy="27432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Inter Medium"/>
                <a:ea typeface="Inter Medium"/>
                <a:cs typeface="Inter Medium"/>
                <a:sym typeface="Inter Medium"/>
              </a:rPr>
              <a:t>Defense 2</a:t>
            </a:r>
            <a:endParaRPr b="0" i="0" sz="1400" u="none" cap="none" strike="noStrike">
              <a:solidFill>
                <a:srgbClr val="000000"/>
              </a:solidFill>
              <a:latin typeface="Arial"/>
              <a:ea typeface="Arial"/>
              <a:cs typeface="Arial"/>
              <a:sym typeface="Arial"/>
            </a:endParaRPr>
          </a:p>
        </p:txBody>
      </p:sp>
      <p:sp>
        <p:nvSpPr>
          <p:cNvPr id="119" name="Google Shape;119;p15"/>
          <p:cNvSpPr txBox="1"/>
          <p:nvPr/>
        </p:nvSpPr>
        <p:spPr>
          <a:xfrm>
            <a:off x="2788920" y="1920240"/>
            <a:ext cx="173736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550D0"/>
                </a:solidFill>
                <a:latin typeface="DM Serif Text"/>
                <a:ea typeface="DM Serif Text"/>
                <a:cs typeface="DM Serif Text"/>
                <a:sym typeface="DM Serif Text"/>
              </a:rPr>
              <a:t>Mutual TLS (mTLS)</a:t>
            </a:r>
            <a:endParaRPr b="0" i="0" sz="1400" u="none" cap="none" strike="noStrike">
              <a:solidFill>
                <a:srgbClr val="000000"/>
              </a:solidFill>
              <a:latin typeface="Arial"/>
              <a:ea typeface="Arial"/>
              <a:cs typeface="Arial"/>
              <a:sym typeface="Arial"/>
            </a:endParaRPr>
          </a:p>
        </p:txBody>
      </p:sp>
      <p:sp>
        <p:nvSpPr>
          <p:cNvPr id="120" name="Google Shape;120;p15"/>
          <p:cNvSpPr txBox="1"/>
          <p:nvPr/>
        </p:nvSpPr>
        <p:spPr>
          <a:xfrm>
            <a:off x="2788920" y="2560320"/>
            <a:ext cx="173736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Every device must present a signed certificate to connect. Broker rejects any client without a valid cert issued by the trusted CA. Stops unauthorized connections.</a:t>
            </a:r>
            <a:endParaRPr b="0" i="0" sz="1400" u="none" cap="none" strike="noStrike">
              <a:solidFill>
                <a:srgbClr val="000000"/>
              </a:solidFill>
              <a:latin typeface="Arial"/>
              <a:ea typeface="Arial"/>
              <a:cs typeface="Arial"/>
              <a:sym typeface="Arial"/>
            </a:endParaRPr>
          </a:p>
        </p:txBody>
      </p:sp>
      <p:sp>
        <p:nvSpPr>
          <p:cNvPr id="121" name="Google Shape;121;p15"/>
          <p:cNvSpPr txBox="1"/>
          <p:nvPr/>
        </p:nvSpPr>
        <p:spPr>
          <a:xfrm>
            <a:off x="461772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A657"/>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22" name="Google Shape;122;p15"/>
          <p:cNvSpPr/>
          <p:nvPr/>
        </p:nvSpPr>
        <p:spPr>
          <a:xfrm>
            <a:off x="4846320" y="1645920"/>
            <a:ext cx="1920240" cy="237744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p:nvPr/>
        </p:nvSpPr>
        <p:spPr>
          <a:xfrm>
            <a:off x="5349240" y="1508760"/>
            <a:ext cx="914400" cy="27432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Inter Medium"/>
                <a:ea typeface="Inter Medium"/>
                <a:cs typeface="Inter Medium"/>
                <a:sym typeface="Inter Medium"/>
              </a:rPr>
              <a:t>Defense 3</a:t>
            </a:r>
            <a:endParaRPr b="0" i="0" sz="1400" u="none" cap="none" strike="noStrike">
              <a:solidFill>
                <a:srgbClr val="000000"/>
              </a:solidFill>
              <a:latin typeface="Arial"/>
              <a:ea typeface="Arial"/>
              <a:cs typeface="Arial"/>
              <a:sym typeface="Arial"/>
            </a:endParaRPr>
          </a:p>
        </p:txBody>
      </p:sp>
      <p:sp>
        <p:nvSpPr>
          <p:cNvPr id="124" name="Google Shape;124;p15"/>
          <p:cNvSpPr txBox="1"/>
          <p:nvPr/>
        </p:nvSpPr>
        <p:spPr>
          <a:xfrm>
            <a:off x="4937760" y="1920240"/>
            <a:ext cx="173736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550D0"/>
                </a:solidFill>
                <a:latin typeface="DM Serif Text"/>
                <a:ea typeface="DM Serif Text"/>
                <a:cs typeface="DM Serif Text"/>
                <a:sym typeface="DM Serif Text"/>
              </a:rPr>
              <a:t>HMAC-SHA256</a:t>
            </a:r>
            <a:endParaRPr b="0" i="0" sz="1400" u="none" cap="none" strike="noStrike">
              <a:solidFill>
                <a:srgbClr val="000000"/>
              </a:solidFill>
              <a:latin typeface="Arial"/>
              <a:ea typeface="Arial"/>
              <a:cs typeface="Arial"/>
              <a:sym typeface="Arial"/>
            </a:endParaRPr>
          </a:p>
        </p:txBody>
      </p:sp>
      <p:sp>
        <p:nvSpPr>
          <p:cNvPr id="125" name="Google Shape;125;p15"/>
          <p:cNvSpPr txBox="1"/>
          <p:nvPr/>
        </p:nvSpPr>
        <p:spPr>
          <a:xfrm>
            <a:off x="4937760" y="2560320"/>
            <a:ext cx="173736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Each message is signed with a shared secret. Subscriber recomputes the HMAC and rejects any message where the signature does not match. Stops message injection and tampering.</a:t>
            </a:r>
            <a:endParaRPr b="0" i="0" sz="1400" u="none" cap="none" strike="noStrike">
              <a:solidFill>
                <a:srgbClr val="000000"/>
              </a:solidFill>
              <a:latin typeface="Arial"/>
              <a:ea typeface="Arial"/>
              <a:cs typeface="Arial"/>
              <a:sym typeface="Arial"/>
            </a:endParaRPr>
          </a:p>
        </p:txBody>
      </p:sp>
      <p:sp>
        <p:nvSpPr>
          <p:cNvPr id="126" name="Google Shape;126;p15"/>
          <p:cNvSpPr txBox="1"/>
          <p:nvPr/>
        </p:nvSpPr>
        <p:spPr>
          <a:xfrm>
            <a:off x="676656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A657"/>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27" name="Google Shape;127;p15"/>
          <p:cNvSpPr/>
          <p:nvPr/>
        </p:nvSpPr>
        <p:spPr>
          <a:xfrm>
            <a:off x="6995160" y="1645920"/>
            <a:ext cx="1920240" cy="237744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15"/>
          <p:cNvSpPr/>
          <p:nvPr/>
        </p:nvSpPr>
        <p:spPr>
          <a:xfrm>
            <a:off x="7498080" y="1508760"/>
            <a:ext cx="914400" cy="27432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Inter Medium"/>
                <a:ea typeface="Inter Medium"/>
                <a:cs typeface="Inter Medium"/>
                <a:sym typeface="Inter Medium"/>
              </a:rPr>
              <a:t>Defense 4</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7086600" y="1920240"/>
            <a:ext cx="173736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2550D0"/>
                </a:solidFill>
                <a:latin typeface="DM Serif Text"/>
                <a:ea typeface="DM Serif Text"/>
                <a:cs typeface="DM Serif Text"/>
                <a:sym typeface="DM Serif Text"/>
              </a:rPr>
              <a:t>Timestamp + Sequence</a:t>
            </a:r>
            <a:endParaRPr b="0" i="0" sz="1400" u="none" cap="none" strike="noStrike">
              <a:solidFill>
                <a:srgbClr val="000000"/>
              </a:solidFill>
              <a:latin typeface="Arial"/>
              <a:ea typeface="Arial"/>
              <a:cs typeface="Arial"/>
              <a:sym typeface="Arial"/>
            </a:endParaRPr>
          </a:p>
        </p:txBody>
      </p:sp>
      <p:sp>
        <p:nvSpPr>
          <p:cNvPr id="130" name="Google Shape;130;p15"/>
          <p:cNvSpPr txBox="1"/>
          <p:nvPr/>
        </p:nvSpPr>
        <p:spPr>
          <a:xfrm>
            <a:off x="7086600" y="2560320"/>
            <a:ext cx="173736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Each message includes a timestamp (must be within 30s) and an incrementing sequence number (must exceed the last seen value). Together they stop both fast and slow replay attacks.</a:t>
            </a:r>
            <a:endParaRPr b="0" i="0" sz="1400" u="none" cap="none" strike="noStrike">
              <a:solidFill>
                <a:srgbClr val="000000"/>
              </a:solidFill>
              <a:latin typeface="Arial"/>
              <a:ea typeface="Arial"/>
              <a:cs typeface="Arial"/>
              <a:sym typeface="Arial"/>
            </a:endParaRPr>
          </a:p>
        </p:txBody>
      </p:sp>
      <p:sp>
        <p:nvSpPr>
          <p:cNvPr id="131" name="Google Shape;131;p15"/>
          <p:cNvSpPr txBox="1"/>
          <p:nvPr/>
        </p:nvSpPr>
        <p:spPr>
          <a:xfrm>
            <a:off x="548640" y="4297680"/>
            <a:ext cx="80467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Inter"/>
                <a:ea typeface="Inter"/>
                <a:cs typeface="Inter"/>
                <a:sym typeface="Inter"/>
              </a:rPr>
              <a:t>No single layer stops everything. TLS fails against insiders. mTLS cannot verify message contents. HMAC cannot detect replays. Timestamps miss fast replays. Only all four together block every attack class.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03</a:t>
            </a:r>
            <a:endParaRPr b="0" i="0" sz="1400" u="none" cap="none" strike="noStrike">
              <a:solidFill>
                <a:srgbClr val="000000"/>
              </a:solidFill>
              <a:latin typeface="Arial"/>
              <a:ea typeface="Arial"/>
              <a:cs typeface="Arial"/>
              <a:sym typeface="Arial"/>
            </a:endParaRPr>
          </a:p>
        </p:txBody>
      </p:sp>
      <p:sp>
        <p:nvSpPr>
          <p:cNvPr id="137" name="Google Shape;137;p16"/>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Experiment Setup: Three-Phase Attack Simulator</a:t>
            </a:r>
            <a:endParaRPr b="0" i="0" sz="1400" u="none" cap="none" strike="noStrike">
              <a:solidFill>
                <a:srgbClr val="000000"/>
              </a:solidFill>
              <a:latin typeface="Arial"/>
              <a:ea typeface="Arial"/>
              <a:cs typeface="Arial"/>
              <a:sym typeface="Arial"/>
            </a:endParaRPr>
          </a:p>
        </p:txBody>
      </p:sp>
      <p:sp>
        <p:nvSpPr>
          <p:cNvPr id="138" name="Google Shape;138;p16"/>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A controlled test against the live pipeline to verify every defense works.</a:t>
            </a:r>
            <a:endParaRPr b="0" i="0" sz="1400" u="none" cap="none" strike="noStrike">
              <a:solidFill>
                <a:srgbClr val="000000"/>
              </a:solidFill>
              <a:latin typeface="Arial"/>
              <a:ea typeface="Arial"/>
              <a:cs typeface="Arial"/>
              <a:sym typeface="Arial"/>
            </a:endParaRPr>
          </a:p>
        </p:txBody>
      </p:sp>
      <p:sp>
        <p:nvSpPr>
          <p:cNvPr id="139" name="Google Shape;139;p16"/>
          <p:cNvSpPr/>
          <p:nvPr/>
        </p:nvSpPr>
        <p:spPr>
          <a:xfrm>
            <a:off x="548640" y="1554480"/>
            <a:ext cx="3840480" cy="292608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z="1100" u="none" cap="none" strike="noStrike">
                <a:solidFill>
                  <a:srgbClr val="666666"/>
                </a:solidFill>
                <a:latin typeface="Inter"/>
                <a:ea typeface="Inter"/>
                <a:cs typeface="Inter"/>
                <a:sym typeface="Inter"/>
              </a:rPr>
              <a:t>publisher_defended.py</a:t>
            </a:r>
            <a:br>
              <a:rPr b="0" i="1" lang="en-US" sz="1100" u="none" cap="none" strike="noStrike">
                <a:solidFill>
                  <a:srgbClr val="666666"/>
                </a:solidFill>
                <a:latin typeface="Inter"/>
                <a:ea typeface="Inter"/>
                <a:cs typeface="Inter"/>
                <a:sym typeface="Inter"/>
              </a:rPr>
            </a:br>
            <a:br>
              <a:rPr b="0" i="1" lang="en-US" sz="1100" u="none" cap="none" strike="noStrike">
                <a:solidFill>
                  <a:srgbClr val="666666"/>
                </a:solidFill>
                <a:latin typeface="Inter"/>
                <a:ea typeface="Inter"/>
                <a:cs typeface="Inter"/>
                <a:sym typeface="Inter"/>
              </a:rPr>
            </a:br>
            <a:r>
              <a:rPr b="0" i="1" lang="en-US" sz="1100" u="none" cap="none" strike="noStrike">
                <a:solidFill>
                  <a:srgbClr val="666666"/>
                </a:solidFill>
                <a:latin typeface="Inter"/>
                <a:ea typeface="Inter"/>
                <a:cs typeface="Inter"/>
                <a:sym typeface="Inter"/>
              </a:rPr>
              <a:t>→ Mosquitto Broker (mTLS, port 8883)</a:t>
            </a:r>
            <a:br>
              <a:rPr b="0" i="1" lang="en-US" sz="1100" u="none" cap="none" strike="noStrike">
                <a:solidFill>
                  <a:srgbClr val="666666"/>
                </a:solidFill>
                <a:latin typeface="Inter"/>
                <a:ea typeface="Inter"/>
                <a:cs typeface="Inter"/>
                <a:sym typeface="Inter"/>
              </a:rPr>
            </a:br>
            <a:r>
              <a:rPr b="0" i="1" lang="en-US" sz="1100" u="none" cap="none" strike="noStrike">
                <a:solidFill>
                  <a:srgbClr val="666666"/>
                </a:solidFill>
                <a:latin typeface="Inter"/>
                <a:ea typeface="Inter"/>
                <a:cs typeface="Inter"/>
                <a:sym typeface="Inter"/>
              </a:rPr>
              <a:t>→ subscriber_dashboard.py → Browser (localhost:8000) + attack_simulator.py</a:t>
            </a:r>
            <a:endParaRPr b="0" i="0" sz="1400" u="none" cap="none" strike="noStrike">
              <a:solidFill>
                <a:srgbClr val="000000"/>
              </a:solidFill>
              <a:latin typeface="Arial"/>
              <a:ea typeface="Arial"/>
              <a:cs typeface="Arial"/>
              <a:sym typeface="Arial"/>
            </a:endParaRPr>
          </a:p>
        </p:txBody>
      </p:sp>
      <p:sp>
        <p:nvSpPr>
          <p:cNvPr id="140" name="Google Shape;140;p16"/>
          <p:cNvSpPr txBox="1"/>
          <p:nvPr/>
        </p:nvSpPr>
        <p:spPr>
          <a:xfrm>
            <a:off x="4754880" y="1554480"/>
            <a:ext cx="39319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550D0"/>
                </a:solidFill>
                <a:latin typeface="DM Serif Text"/>
                <a:ea typeface="DM Serif Text"/>
                <a:cs typeface="DM Serif Text"/>
                <a:sym typeface="DM Serif Text"/>
              </a:rPr>
              <a:t>Your Setup Process</a:t>
            </a:r>
            <a:endParaRPr b="0" i="0" sz="1400" u="none" cap="none" strike="noStrike">
              <a:solidFill>
                <a:srgbClr val="000000"/>
              </a:solidFill>
              <a:latin typeface="Arial"/>
              <a:ea typeface="Arial"/>
              <a:cs typeface="Arial"/>
              <a:sym typeface="Arial"/>
            </a:endParaRPr>
          </a:p>
        </p:txBody>
      </p:sp>
      <p:sp>
        <p:nvSpPr>
          <p:cNvPr id="141" name="Google Shape;141;p16"/>
          <p:cNvSpPr txBox="1"/>
          <p:nvPr/>
        </p:nvSpPr>
        <p:spPr>
          <a:xfrm>
            <a:off x="4754880" y="2103120"/>
            <a:ext cx="3931800" cy="178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Inter"/>
                <a:ea typeface="Inter"/>
                <a:cs typeface="Inter"/>
                <a:sym typeface="Inter"/>
              </a:rPr>
              <a:t>1. Started Mosquitto broker with mTLS config on port 8883 (Terminal 1).</a:t>
            </a:r>
            <a:br>
              <a:rPr b="0" i="0" lang="en-US" sz="1100" u="none" cap="none" strike="noStrike">
                <a:solidFill>
                  <a:srgbClr val="CCCCCC"/>
                </a:solidFill>
                <a:latin typeface="Inter"/>
                <a:ea typeface="Inter"/>
                <a:cs typeface="Inter"/>
                <a:sym typeface="Inter"/>
              </a:rPr>
            </a:br>
            <a:r>
              <a:rPr lang="en-US" sz="1100">
                <a:solidFill>
                  <a:srgbClr val="666666"/>
                </a:solidFill>
                <a:latin typeface="Inter"/>
                <a:ea typeface="Inter"/>
                <a:cs typeface="Inter"/>
                <a:sym typeface="Inter"/>
              </a:rPr>
              <a:t>2. Launched subscriber_dashboard.py (Terminal 2) — browser opened to localhost:8000.</a:t>
            </a:r>
            <a:br>
              <a:rPr lang="en-US" sz="1100">
                <a:solidFill>
                  <a:srgbClr val="666666"/>
                </a:solidFill>
                <a:latin typeface="Inter"/>
                <a:ea typeface="Inter"/>
                <a:cs typeface="Inter"/>
                <a:sym typeface="Inter"/>
              </a:rPr>
            </a:br>
            <a:r>
              <a:rPr lang="en-US" sz="1100">
                <a:solidFill>
                  <a:srgbClr val="666666"/>
                </a:solidFill>
                <a:latin typeface="Inter"/>
                <a:ea typeface="Inter"/>
                <a:cs typeface="Inter"/>
                <a:sym typeface="Inter"/>
              </a:rPr>
              <a:t>3. Launched publisher_defended.py (Terminal 3) — device-001 publishing signed readings every 5 seconds.</a:t>
            </a:r>
            <a:br>
              <a:rPr lang="en-US" sz="1100">
                <a:solidFill>
                  <a:srgbClr val="666666"/>
                </a:solidFill>
                <a:latin typeface="Inter"/>
                <a:ea typeface="Inter"/>
                <a:cs typeface="Inter"/>
                <a:sym typeface="Inter"/>
              </a:rPr>
            </a:br>
            <a:r>
              <a:rPr lang="en-US" sz="1100">
                <a:solidFill>
                  <a:srgbClr val="666666"/>
                </a:solidFill>
                <a:latin typeface="Inter"/>
                <a:ea typeface="Inter"/>
                <a:cs typeface="Inter"/>
                <a:sym typeface="Inter"/>
              </a:rPr>
              <a:t>4. Ran attack_simulator.py (Terminal 4) — three-phase attack sequence against the live pipeline.</a:t>
            </a:r>
            <a:br>
              <a:rPr lang="en-US" sz="1100">
                <a:solidFill>
                  <a:srgbClr val="666666"/>
                </a:solidFill>
                <a:latin typeface="Inter"/>
                <a:ea typeface="Inter"/>
                <a:cs typeface="Inter"/>
                <a:sym typeface="Inter"/>
              </a:rPr>
            </a:br>
            <a:r>
              <a:rPr lang="en-US" sz="1100">
                <a:solidFill>
                  <a:srgbClr val="666666"/>
                </a:solidFill>
                <a:latin typeface="Inter"/>
                <a:ea typeface="Inter"/>
                <a:cs typeface="Inter"/>
                <a:sym typeface="Inter"/>
              </a:rPr>
              <a:t>5. Monitored the live dashboard in browser and subscriber terminal for accept/reject events in real time.</a:t>
            </a:r>
            <a:endParaRPr b="0" i="0" sz="1400" u="none" cap="none" strike="noStrike">
              <a:solidFill>
                <a:srgbClr val="000000"/>
              </a:solidFill>
              <a:latin typeface="Arial"/>
              <a:ea typeface="Arial"/>
              <a:cs typeface="Arial"/>
              <a:sym typeface="Arial"/>
            </a:endParaRPr>
          </a:p>
        </p:txBody>
      </p:sp>
      <p:pic>
        <p:nvPicPr>
          <p:cNvPr id="142" name="Google Shape;142;p16" title="experiment_setup_diagram.png"/>
          <p:cNvPicPr preferRelativeResize="0"/>
          <p:nvPr/>
        </p:nvPicPr>
        <p:blipFill>
          <a:blip r:embed="rId3">
            <a:alphaModFix/>
          </a:blip>
          <a:stretch>
            <a:fillRect/>
          </a:stretch>
        </p:blipFill>
        <p:spPr>
          <a:xfrm>
            <a:off x="255175" y="1914806"/>
            <a:ext cx="4427400" cy="2162225"/>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04</a:t>
            </a:r>
            <a:endParaRPr b="0" i="0" sz="1400" u="none" cap="none" strike="noStrike">
              <a:solidFill>
                <a:srgbClr val="000000"/>
              </a:solidFill>
              <a:latin typeface="Arial"/>
              <a:ea typeface="Arial"/>
              <a:cs typeface="Arial"/>
              <a:sym typeface="Arial"/>
            </a:endParaRPr>
          </a:p>
        </p:txBody>
      </p:sp>
      <p:sp>
        <p:nvSpPr>
          <p:cNvPr id="148" name="Google Shape;148;p17"/>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Attack Results: Every Attack Blocked</a:t>
            </a:r>
            <a:endParaRPr b="0" i="0" sz="1400" u="none" cap="none" strike="noStrike">
              <a:solidFill>
                <a:srgbClr val="000000"/>
              </a:solidFill>
              <a:latin typeface="Arial"/>
              <a:ea typeface="Arial"/>
              <a:cs typeface="Arial"/>
              <a:sym typeface="Arial"/>
            </a:endParaRPr>
          </a:p>
        </p:txBody>
      </p:sp>
      <p:sp>
        <p:nvSpPr>
          <p:cNvPr id="149" name="Google Shape;149;p17"/>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Which defense caught each attack phase — and why it works.</a:t>
            </a:r>
            <a:endParaRPr b="0" i="0" sz="1400" u="none" cap="none" strike="noStrike">
              <a:solidFill>
                <a:srgbClr val="000000"/>
              </a:solidFill>
              <a:latin typeface="Arial"/>
              <a:ea typeface="Arial"/>
              <a:cs typeface="Arial"/>
              <a:sym typeface="Arial"/>
            </a:endParaRPr>
          </a:p>
        </p:txBody>
      </p:sp>
      <p:graphicFrame>
        <p:nvGraphicFramePr>
          <p:cNvPr id="150" name="Google Shape;150;p17"/>
          <p:cNvGraphicFramePr/>
          <p:nvPr/>
        </p:nvGraphicFramePr>
        <p:xfrm>
          <a:off x="548640" y="1554480"/>
          <a:ext cx="3000000" cy="3000000"/>
        </p:xfrm>
        <a:graphic>
          <a:graphicData uri="http://schemas.openxmlformats.org/drawingml/2006/table">
            <a:tbl>
              <a:tblPr bandRow="1" firstRow="1">
                <a:noFill/>
                <a:tableStyleId>{396B5C7B-3427-4A27-A5F0-1C2203BAA935}</a:tableStyleId>
              </a:tblPr>
              <a:tblGrid>
                <a:gridCol w="1645925"/>
                <a:gridCol w="2011675"/>
                <a:gridCol w="2011675"/>
                <a:gridCol w="2377450"/>
              </a:tblGrid>
              <a:tr h="36575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Inter"/>
                          <a:ea typeface="Inter"/>
                          <a:cs typeface="Inter"/>
                          <a:sym typeface="Inter"/>
                        </a:rPr>
                        <a:t>Attack Phase</a:t>
                      </a:r>
                      <a:endParaRPr sz="1400" u="none" cap="none" strike="noStrike"/>
                    </a:p>
                  </a:txBody>
                  <a:tcPr marT="45725" marB="45725" marR="91450" marL="91450">
                    <a:solidFill>
                      <a:srgbClr val="2550D0"/>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Inter"/>
                          <a:ea typeface="Inter"/>
                          <a:cs typeface="Inter"/>
                          <a:sym typeface="Inter"/>
                        </a:rPr>
                        <a:t>What the Attacker Tried</a:t>
                      </a:r>
                      <a:endParaRPr sz="1400" u="none" cap="none" strike="noStrike"/>
                    </a:p>
                  </a:txBody>
                  <a:tcPr marT="45725" marB="45725" marR="91450" marL="91450">
                    <a:solidFill>
                      <a:srgbClr val="2550D0"/>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Inter"/>
                          <a:ea typeface="Inter"/>
                          <a:cs typeface="Inter"/>
                          <a:sym typeface="Inter"/>
                        </a:rPr>
                        <a:t>Defense That Caught It</a:t>
                      </a:r>
                      <a:endParaRPr sz="1400" u="none" cap="none" strike="noStrike"/>
                    </a:p>
                  </a:txBody>
                  <a:tcPr marT="45725" marB="45725" marR="91450" marL="91450">
                    <a:solidFill>
                      <a:srgbClr val="2550D0"/>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Inter"/>
                          <a:ea typeface="Inter"/>
                          <a:cs typeface="Inter"/>
                          <a:sym typeface="Inter"/>
                        </a:rPr>
                        <a:t>Why It Works</a:t>
                      </a:r>
                      <a:endParaRPr sz="1400" u="none" cap="none" strike="noStrike"/>
                    </a:p>
                  </a:txBody>
                  <a:tcPr marT="45725" marB="45725" marR="91450" marL="91450">
                    <a:solidFill>
                      <a:srgbClr val="2550D0"/>
                    </a:solidFill>
                  </a:tcPr>
                </a:tc>
              </a:tr>
              <a:tr h="3657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Phase 1: Eavesdrop</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Subscribed to all MQTT topics with a valid mTLS cert and read all sensor messages.</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None (passive listening)</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Eavesdropping cannot be blocked at the protocol level. In production, broker ACLs would restrict topic subscriptions.</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r>
              <a:tr h="3657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Phase 2: Inject</a:t>
                      </a:r>
                      <a:endParaRPr sz="1400" u="none" cap="none" strike="noStrike"/>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Published a message with fake device ID, 250 PSI pressure reading, and a forged HMAC signature.</a:t>
                      </a:r>
                      <a:endParaRPr sz="1000" u="none" cap="none" strike="noStrike">
                        <a:solidFill>
                          <a:srgbClr val="000000"/>
                        </a:solidFill>
                        <a:latin typeface="Inter"/>
                        <a:ea typeface="Inter"/>
                        <a:cs typeface="Inter"/>
                        <a:sym typeface="Inte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HMAC-SHA256 Verification</a:t>
                      </a:r>
                      <a:endParaRPr sz="1000" u="none" cap="none" strike="noStrike">
                        <a:solidFill>
                          <a:srgbClr val="000000"/>
                        </a:solidFill>
                        <a:latin typeface="Inter"/>
                        <a:ea typeface="Inter"/>
                        <a:cs typeface="Inter"/>
                        <a:sym typeface="Inte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The subscriber recomputed the HMAC using the shared secret. The forged signature did not match. Message rejected immediately.</a:t>
                      </a:r>
                      <a:endParaRPr sz="1000" u="none" cap="none" strike="noStrike">
                        <a:solidFill>
                          <a:srgbClr val="000000"/>
                        </a:solidFill>
                        <a:latin typeface="Inter"/>
                        <a:ea typeface="Inter"/>
                        <a:cs typeface="Inter"/>
                        <a:sym typeface="Inter"/>
                      </a:endParaRPr>
                    </a:p>
                  </a:txBody>
                  <a:tcPr marT="45725" marB="45725" marR="91450" marL="91450">
                    <a:solidFill>
                      <a:srgbClr val="F5F5F5"/>
                    </a:solidFill>
                  </a:tcPr>
                </a:tc>
              </a:tr>
              <a:tr h="3657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Phase 3: Replay</a:t>
                      </a:r>
                      <a:endParaRPr sz="1400" u="none" cap="none" strike="noStrike"/>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Re-sent a previously captured legitimate message with a valid HMAC signature.</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Sequence Counter</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rgbClr val="000000"/>
                          </a:solidFill>
                          <a:latin typeface="Inter"/>
                          <a:ea typeface="Inter"/>
                          <a:cs typeface="Inter"/>
                          <a:sym typeface="Inter"/>
                        </a:rPr>
                        <a:t>The subscriber had already recorded that sequence number from the original message. Duplicate detected and rejected.</a:t>
                      </a:r>
                      <a:endParaRPr sz="1000" u="none" cap="none" strike="noStrike">
                        <a:solidFill>
                          <a:srgbClr val="000000"/>
                        </a:solidFill>
                        <a:latin typeface="Inter"/>
                        <a:ea typeface="Inter"/>
                        <a:cs typeface="Inter"/>
                        <a:sym typeface="Inter"/>
                      </a:endParaRPr>
                    </a:p>
                  </a:txBody>
                  <a:tcPr marT="45725" marB="45725" marR="91450" marL="91450">
                    <a:solidFill>
                      <a:srgbClr val="FFFFFF"/>
                    </a:solidFill>
                  </a:tcPr>
                </a:tc>
              </a:tr>
            </a:tbl>
          </a:graphicData>
        </a:graphic>
      </p:graphicFrame>
      <p:sp>
        <p:nvSpPr>
          <p:cNvPr id="151" name="Google Shape;151;p17"/>
          <p:cNvSpPr/>
          <p:nvPr/>
        </p:nvSpPr>
        <p:spPr>
          <a:xfrm>
            <a:off x="2286013" y="4081455"/>
            <a:ext cx="4572000" cy="45720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Inter"/>
                <a:ea typeface="Inter"/>
                <a:cs typeface="Inter"/>
                <a:sym typeface="Inter"/>
              </a:rPr>
              <a:t>✅  Result: 0 attacks succeeded  |  100% blocked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05</a:t>
            </a:r>
            <a:endParaRPr b="0" i="0" sz="1400" u="none" cap="none" strike="noStrike">
              <a:solidFill>
                <a:srgbClr val="000000"/>
              </a:solidFill>
              <a:latin typeface="Arial"/>
              <a:ea typeface="Arial"/>
              <a:cs typeface="Arial"/>
              <a:sym typeface="Arial"/>
            </a:endParaRPr>
          </a:p>
        </p:txBody>
      </p:sp>
      <p:sp>
        <p:nvSpPr>
          <p:cNvPr id="157" name="Google Shape;157;p18"/>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Dashboard: Attack Detected</a:t>
            </a:r>
            <a:endParaRPr b="0" i="0" sz="1400" u="none" cap="none" strike="noStrike">
              <a:solidFill>
                <a:srgbClr val="000000"/>
              </a:solidFill>
              <a:latin typeface="Arial"/>
              <a:ea typeface="Arial"/>
              <a:cs typeface="Arial"/>
              <a:sym typeface="Arial"/>
            </a:endParaRPr>
          </a:p>
        </p:txBody>
      </p:sp>
      <p:sp>
        <p:nvSpPr>
          <p:cNvPr id="158" name="Google Shape;158;p18"/>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Red alerts, shaking zone cards — every attack caught in real time.</a:t>
            </a:r>
            <a:endParaRPr b="0" i="0" sz="1400" u="none" cap="none" strike="noStrike">
              <a:solidFill>
                <a:srgbClr val="000000"/>
              </a:solidFill>
              <a:latin typeface="Arial"/>
              <a:ea typeface="Arial"/>
              <a:cs typeface="Arial"/>
              <a:sym typeface="Arial"/>
            </a:endParaRPr>
          </a:p>
        </p:txBody>
      </p:sp>
      <p:sp>
        <p:nvSpPr>
          <p:cNvPr id="159" name="Google Shape;159;p18"/>
          <p:cNvSpPr/>
          <p:nvPr/>
        </p:nvSpPr>
        <p:spPr>
          <a:xfrm>
            <a:off x="731520" y="1371600"/>
            <a:ext cx="7680900" cy="347460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z="1100" u="none" cap="none" strike="noStrike">
                <a:solidFill>
                  <a:srgbClr val="666666"/>
                </a:solidFill>
                <a:latin typeface="Inter"/>
                <a:ea typeface="Inter"/>
                <a:cs typeface="Inter"/>
                <a:sym typeface="Inter"/>
              </a:rPr>
              <a:t>[Insert image or video: Dashboard during active attack</a:t>
            </a:r>
            <a:br>
              <a:rPr b="0" i="1" lang="en-US" sz="1100" u="none" cap="none" strike="noStrike">
                <a:solidFill>
                  <a:srgbClr val="666666"/>
                </a:solidFill>
                <a:latin typeface="Inter"/>
                <a:ea typeface="Inter"/>
                <a:cs typeface="Inter"/>
                <a:sym typeface="Inter"/>
              </a:rPr>
            </a:br>
            <a:br>
              <a:rPr b="0" i="1" lang="en-US" sz="1100" u="none" cap="none" strike="noStrike">
                <a:solidFill>
                  <a:srgbClr val="666666"/>
                </a:solidFill>
                <a:latin typeface="Inter"/>
                <a:ea typeface="Inter"/>
                <a:cs typeface="Inter"/>
                <a:sym typeface="Inter"/>
              </a:rPr>
            </a:br>
            <a:r>
              <a:rPr b="0" i="1" lang="en-US" sz="1100" u="none" cap="none" strike="noStrike">
                <a:solidFill>
                  <a:srgbClr val="666666"/>
                </a:solidFill>
                <a:latin typeface="Inter"/>
                <a:ea typeface="Inter"/>
                <a:cs typeface="Inter"/>
                <a:sym typeface="Inter"/>
              </a:rPr>
              <a:t>Showing red alert banner, shaking zone cards,</a:t>
            </a:r>
            <a:br>
              <a:rPr b="0" i="1" lang="en-US" sz="1100" u="none" cap="none" strike="noStrike">
                <a:solidFill>
                  <a:srgbClr val="666666"/>
                </a:solidFill>
                <a:latin typeface="Inter"/>
                <a:ea typeface="Inter"/>
                <a:cs typeface="Inter"/>
                <a:sym typeface="Inter"/>
              </a:rPr>
            </a:br>
            <a:r>
              <a:rPr b="0" i="1" lang="en-US" sz="1100" u="none" cap="none" strike="noStrike">
                <a:solidFill>
                  <a:srgbClr val="666666"/>
                </a:solidFill>
                <a:latin typeface="Inter"/>
                <a:ea typeface="Inter"/>
                <a:cs typeface="Inter"/>
                <a:sym typeface="Inter"/>
              </a:rPr>
              <a:t>attack type labels, real-time rejection logs]</a:t>
            </a:r>
            <a:endParaRPr b="0" i="0" sz="1400" u="none" cap="none" strike="noStrike">
              <a:solidFill>
                <a:srgbClr val="000000"/>
              </a:solidFill>
              <a:latin typeface="Arial"/>
              <a:ea typeface="Arial"/>
              <a:cs typeface="Arial"/>
              <a:sym typeface="Arial"/>
            </a:endParaRPr>
          </a:p>
        </p:txBody>
      </p:sp>
      <p:pic>
        <p:nvPicPr>
          <p:cNvPr id="160" name="Google Shape;160;p18" title="Screenshot 2026-06-05 200809.png"/>
          <p:cNvPicPr preferRelativeResize="0"/>
          <p:nvPr/>
        </p:nvPicPr>
        <p:blipFill>
          <a:blip r:embed="rId3">
            <a:alphaModFix/>
          </a:blip>
          <a:stretch>
            <a:fillRect/>
          </a:stretch>
        </p:blipFill>
        <p:spPr>
          <a:xfrm>
            <a:off x="1394363" y="1636588"/>
            <a:ext cx="6355265" cy="2944624"/>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06</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Stats: Attacks Blocked</a:t>
            </a:r>
            <a:endParaRPr b="0" i="0" sz="1400" u="none" cap="none" strike="noStrike">
              <a:solidFill>
                <a:srgbClr val="000000"/>
              </a:solidFill>
              <a:latin typeface="Arial"/>
              <a:ea typeface="Arial"/>
              <a:cs typeface="Arial"/>
              <a:sym typeface="Arial"/>
            </a:endParaRPr>
          </a:p>
        </p:txBody>
      </p:sp>
      <p:sp>
        <p:nvSpPr>
          <p:cNvPr id="167" name="Google Shape;167;p19"/>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The numbers tell the story — every attack rejected, every valid message accepted.</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731520" y="1371600"/>
            <a:ext cx="7680960" cy="347472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69" name="Google Shape;169;p19" title="Screenshot 2026-06-05 200822.png"/>
          <p:cNvPicPr preferRelativeResize="0"/>
          <p:nvPr/>
        </p:nvPicPr>
        <p:blipFill>
          <a:blip r:embed="rId3">
            <a:alphaModFix/>
          </a:blip>
          <a:stretch>
            <a:fillRect/>
          </a:stretch>
        </p:blipFill>
        <p:spPr>
          <a:xfrm>
            <a:off x="1260713" y="1549684"/>
            <a:ext cx="6622577" cy="3118550"/>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07</a:t>
            </a:r>
            <a:endParaRPr b="0" i="0" sz="1400" u="none" cap="none" strike="noStrike">
              <a:solidFill>
                <a:srgbClr val="000000"/>
              </a:solidFill>
              <a:latin typeface="Arial"/>
              <a:ea typeface="Arial"/>
              <a:cs typeface="Arial"/>
              <a:sym typeface="Arial"/>
            </a:endParaRPr>
          </a:p>
        </p:txBody>
      </p:sp>
      <p:sp>
        <p:nvSpPr>
          <p:cNvPr id="175" name="Google Shape;175;p20"/>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Custom Dashboard: Making It Mine</a:t>
            </a:r>
            <a:endParaRPr b="0" i="0" sz="1400" u="none" cap="none" strike="noStrike">
              <a:solidFill>
                <a:srgbClr val="000000"/>
              </a:solidFill>
              <a:latin typeface="Arial"/>
              <a:ea typeface="Arial"/>
              <a:cs typeface="Arial"/>
              <a:sym typeface="Arial"/>
            </a:endParaRPr>
          </a:p>
        </p:txBody>
      </p:sp>
      <p:sp>
        <p:nvSpPr>
          <p:cNvPr id="176" name="Google Shape;176;p20"/>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Personalized branding, AI-generated color theme, custom alert rules.</a:t>
            </a:r>
            <a:endParaRPr b="0" i="0" sz="1400" u="none" cap="none" strike="noStrike">
              <a:solidFill>
                <a:srgbClr val="000000"/>
              </a:solidFill>
              <a:latin typeface="Arial"/>
              <a:ea typeface="Arial"/>
              <a:cs typeface="Arial"/>
              <a:sym typeface="Arial"/>
            </a:endParaRPr>
          </a:p>
        </p:txBody>
      </p:sp>
      <p:sp>
        <p:nvSpPr>
          <p:cNvPr id="177" name="Google Shape;177;p20"/>
          <p:cNvSpPr/>
          <p:nvPr/>
        </p:nvSpPr>
        <p:spPr>
          <a:xfrm>
            <a:off x="731520" y="1371600"/>
            <a:ext cx="7680960" cy="347472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78" name="Google Shape;178;p20" title="Screenshot 2026-06-05 201116.png"/>
          <p:cNvPicPr preferRelativeResize="0"/>
          <p:nvPr/>
        </p:nvPicPr>
        <p:blipFill>
          <a:blip r:embed="rId3">
            <a:alphaModFix/>
          </a:blip>
          <a:stretch>
            <a:fillRect/>
          </a:stretch>
        </p:blipFill>
        <p:spPr>
          <a:xfrm>
            <a:off x="1273175" y="1541463"/>
            <a:ext cx="6597650" cy="3135000"/>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08</a:t>
            </a:r>
            <a:endParaRPr b="0" i="0" sz="1400" u="none" cap="none" strike="noStrike">
              <a:solidFill>
                <a:srgbClr val="000000"/>
              </a:solidFill>
              <a:latin typeface="Arial"/>
              <a:ea typeface="Arial"/>
              <a:cs typeface="Arial"/>
              <a:sym typeface="Arial"/>
            </a:endParaRPr>
          </a:p>
        </p:txBody>
      </p:sp>
      <p:sp>
        <p:nvSpPr>
          <p:cNvPr id="184" name="Google Shape;184;p21"/>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Key Insights</a:t>
            </a:r>
            <a:endParaRPr b="0" i="0" sz="1400" u="none" cap="none" strike="noStrike">
              <a:solidFill>
                <a:srgbClr val="000000"/>
              </a:solidFill>
              <a:latin typeface="Arial"/>
              <a:ea typeface="Arial"/>
              <a:cs typeface="Arial"/>
              <a:sym typeface="Arial"/>
            </a:endParaRPr>
          </a:p>
        </p:txBody>
      </p:sp>
      <p:sp>
        <p:nvSpPr>
          <p:cNvPr id="185" name="Google Shape;185;p21"/>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What this experiment revealed about IoT security.</a:t>
            </a:r>
            <a:endParaRPr b="0" i="0" sz="1400" u="none" cap="none" strike="noStrike">
              <a:solidFill>
                <a:srgbClr val="000000"/>
              </a:solidFill>
              <a:latin typeface="Arial"/>
              <a:ea typeface="Arial"/>
              <a:cs typeface="Arial"/>
              <a:sym typeface="Arial"/>
            </a:endParaRPr>
          </a:p>
        </p:txBody>
      </p:sp>
      <p:sp>
        <p:nvSpPr>
          <p:cNvPr id="186" name="Google Shape;186;p21"/>
          <p:cNvSpPr/>
          <p:nvPr/>
        </p:nvSpPr>
        <p:spPr>
          <a:xfrm>
            <a:off x="731520" y="1417320"/>
            <a:ext cx="274320" cy="274320"/>
          </a:xfrm>
          <a:prstGeom prst="ellipse">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187" name="Google Shape;187;p21"/>
          <p:cNvSpPr txBox="1"/>
          <p:nvPr/>
        </p:nvSpPr>
        <p:spPr>
          <a:xfrm>
            <a:off x="1188720" y="137160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No single defense is enough</a:t>
            </a:r>
            <a:endParaRPr b="0" i="0" sz="1400" u="none" cap="none" strike="noStrike">
              <a:solidFill>
                <a:srgbClr val="000000"/>
              </a:solidFill>
              <a:latin typeface="Arial"/>
              <a:ea typeface="Arial"/>
              <a:cs typeface="Arial"/>
              <a:sym typeface="Arial"/>
            </a:endParaRPr>
          </a:p>
        </p:txBody>
      </p:sp>
      <p:sp>
        <p:nvSpPr>
          <p:cNvPr id="188" name="Google Shape;188;p21"/>
          <p:cNvSpPr txBox="1"/>
          <p:nvPr/>
        </p:nvSpPr>
        <p:spPr>
          <a:xfrm>
            <a:off x="1188720" y="169164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mTLS stops outsiders but not compromised insiders. HMAC stops forgeries but not replays. You need all layers working together.</a:t>
            </a:r>
            <a:endParaRPr b="0" i="0" sz="1400" u="none" cap="none" strike="noStrike">
              <a:solidFill>
                <a:srgbClr val="000000"/>
              </a:solidFill>
              <a:latin typeface="Arial"/>
              <a:ea typeface="Arial"/>
              <a:cs typeface="Arial"/>
              <a:sym typeface="Arial"/>
            </a:endParaRPr>
          </a:p>
        </p:txBody>
      </p:sp>
      <p:sp>
        <p:nvSpPr>
          <p:cNvPr id="189" name="Google Shape;189;p21"/>
          <p:cNvSpPr/>
          <p:nvPr/>
        </p:nvSpPr>
        <p:spPr>
          <a:xfrm>
            <a:off x="731520" y="2286000"/>
            <a:ext cx="274320" cy="274320"/>
          </a:xfrm>
          <a:prstGeom prst="ellipse">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190" name="Google Shape;190;p21"/>
          <p:cNvSpPr txBox="1"/>
          <p:nvPr/>
        </p:nvSpPr>
        <p:spPr>
          <a:xfrm>
            <a:off x="1188720" y="224028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The sequence counter is the most reliable replay defense</a:t>
            </a:r>
            <a:endParaRPr b="0" i="0" sz="1400" u="none" cap="none" strike="noStrike">
              <a:solidFill>
                <a:srgbClr val="000000"/>
              </a:solidFill>
              <a:latin typeface="Arial"/>
              <a:ea typeface="Arial"/>
              <a:cs typeface="Arial"/>
              <a:sym typeface="Arial"/>
            </a:endParaRPr>
          </a:p>
        </p:txBody>
      </p:sp>
      <p:sp>
        <p:nvSpPr>
          <p:cNvPr id="191" name="Google Shape;191;p21"/>
          <p:cNvSpPr txBox="1"/>
          <p:nvPr/>
        </p:nvSpPr>
        <p:spPr>
          <a:xfrm>
            <a:off x="1188720" y="256032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Timestamps have a 30-second window that fast replays can still exploit. Sequence counters catch every duplicate with zero tolerance, regardless of timing.</a:t>
            </a:r>
            <a:endParaRPr b="0" i="0" sz="1400" u="none" cap="none" strike="noStrike">
              <a:solidFill>
                <a:srgbClr val="000000"/>
              </a:solidFill>
              <a:latin typeface="Arial"/>
              <a:ea typeface="Arial"/>
              <a:cs typeface="Arial"/>
              <a:sym typeface="Arial"/>
            </a:endParaRPr>
          </a:p>
        </p:txBody>
      </p:sp>
      <p:sp>
        <p:nvSpPr>
          <p:cNvPr id="192" name="Google Shape;192;p21"/>
          <p:cNvSpPr/>
          <p:nvPr/>
        </p:nvSpPr>
        <p:spPr>
          <a:xfrm>
            <a:off x="731520" y="3154680"/>
            <a:ext cx="274320" cy="274320"/>
          </a:xfrm>
          <a:prstGeom prst="ellipse">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193" name="Google Shape;193;p21"/>
          <p:cNvSpPr txBox="1"/>
          <p:nvPr/>
        </p:nvSpPr>
        <p:spPr>
          <a:xfrm>
            <a:off x="1188720" y="310896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Visibility transforms reactive into proactive security</a:t>
            </a:r>
            <a:endParaRPr b="0" i="0" sz="1400" u="none" cap="none" strike="noStrike">
              <a:solidFill>
                <a:srgbClr val="000000"/>
              </a:solidFill>
              <a:latin typeface="Arial"/>
              <a:ea typeface="Arial"/>
              <a:cs typeface="Arial"/>
              <a:sym typeface="Arial"/>
            </a:endParaRPr>
          </a:p>
        </p:txBody>
      </p:sp>
      <p:sp>
        <p:nvSpPr>
          <p:cNvPr id="194" name="Google Shape;194;p21"/>
          <p:cNvSpPr txBox="1"/>
          <p:nvPr/>
        </p:nvSpPr>
        <p:spPr>
          <a:xfrm>
            <a:off x="1188720" y="342900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Terminal output told me something happened. The dashboard told me what, when, and which device was targeted in under five seconds. That difference matters at 3 AM.</a:t>
            </a:r>
            <a:endParaRPr b="0" i="0" sz="1400" u="none" cap="none" strike="noStrike">
              <a:solidFill>
                <a:srgbClr val="000000"/>
              </a:solidFill>
              <a:latin typeface="Arial"/>
              <a:ea typeface="Arial"/>
              <a:cs typeface="Arial"/>
              <a:sym typeface="Arial"/>
            </a:endParaRPr>
          </a:p>
        </p:txBody>
      </p:sp>
      <p:sp>
        <p:nvSpPr>
          <p:cNvPr id="195" name="Google Shape;195;p21"/>
          <p:cNvSpPr/>
          <p:nvPr/>
        </p:nvSpPr>
        <p:spPr>
          <a:xfrm>
            <a:off x="731520" y="4023359"/>
            <a:ext cx="274320" cy="274320"/>
          </a:xfrm>
          <a:prstGeom prst="ellipse">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4</a:t>
            </a:r>
            <a:endParaRPr b="0" i="0" sz="1400" u="none" cap="none" strike="noStrike">
              <a:solidFill>
                <a:srgbClr val="000000"/>
              </a:solidFill>
              <a:latin typeface="Arial"/>
              <a:ea typeface="Arial"/>
              <a:cs typeface="Arial"/>
              <a:sym typeface="Arial"/>
            </a:endParaRPr>
          </a:p>
        </p:txBody>
      </p:sp>
      <p:sp>
        <p:nvSpPr>
          <p:cNvPr id="196" name="Google Shape;196;p21"/>
          <p:cNvSpPr txBox="1"/>
          <p:nvPr/>
        </p:nvSpPr>
        <p:spPr>
          <a:xfrm>
            <a:off x="1188720" y="397763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Defense in depth maps directly to real attack patterns</a:t>
            </a:r>
            <a:endParaRPr b="0" i="0" sz="1400" u="none" cap="none" strike="noStrike">
              <a:solidFill>
                <a:srgbClr val="000000"/>
              </a:solidFill>
              <a:latin typeface="Arial"/>
              <a:ea typeface="Arial"/>
              <a:cs typeface="Arial"/>
              <a:sym typeface="Arial"/>
            </a:endParaRPr>
          </a:p>
        </p:txBody>
      </p:sp>
      <p:sp>
        <p:nvSpPr>
          <p:cNvPr id="197" name="Google Shape;197;p21"/>
          <p:cNvSpPr txBox="1"/>
          <p:nvPr/>
        </p:nvSpPr>
        <p:spPr>
          <a:xfrm>
            <a:off x="1188720" y="4297679"/>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Every defense layer was designed to close a specific gap left by the previous one. Understanding that chain made the entire architecture click into place.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p:nvPr/>
        </p:nvSpPr>
        <p:spPr>
          <a:xfrm>
            <a:off x="365760" y="274320"/>
            <a:ext cx="457200" cy="320040"/>
          </a:xfrm>
          <a:prstGeom prst="roundRect">
            <a:avLst>
              <a:gd fmla="val 16667" name="adj"/>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Medium"/>
                <a:ea typeface="Inter Medium"/>
                <a:cs typeface="Inter Medium"/>
                <a:sym typeface="Inter Medium"/>
              </a:rPr>
              <a:t>09</a:t>
            </a:r>
            <a:endParaRPr b="0" i="0" sz="1400" u="none" cap="none" strike="noStrike">
              <a:solidFill>
                <a:srgbClr val="000000"/>
              </a:solidFill>
              <a:latin typeface="Arial"/>
              <a:ea typeface="Arial"/>
              <a:cs typeface="Arial"/>
              <a:sym typeface="Arial"/>
            </a:endParaRPr>
          </a:p>
        </p:txBody>
      </p:sp>
      <p:sp>
        <p:nvSpPr>
          <p:cNvPr id="203" name="Google Shape;203;p22"/>
          <p:cNvSpPr txBox="1"/>
          <p:nvPr/>
        </p:nvSpPr>
        <p:spPr>
          <a:xfrm>
            <a:off x="1005840" y="274320"/>
            <a:ext cx="7772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DM Serif Text"/>
                <a:ea typeface="DM Serif Text"/>
                <a:cs typeface="DM Serif Text"/>
                <a:sym typeface="DM Serif Text"/>
              </a:rPr>
              <a:t>Recommendations for Grand Marina</a:t>
            </a:r>
            <a:endParaRPr b="0" i="0" sz="1400" u="none" cap="none" strike="noStrike">
              <a:solidFill>
                <a:srgbClr val="000000"/>
              </a:solidFill>
              <a:latin typeface="Arial"/>
              <a:ea typeface="Arial"/>
              <a:cs typeface="Arial"/>
              <a:sym typeface="Arial"/>
            </a:endParaRPr>
          </a:p>
        </p:txBody>
      </p:sp>
      <p:sp>
        <p:nvSpPr>
          <p:cNvPr id="204" name="Google Shape;204;p22"/>
          <p:cNvSpPr txBox="1"/>
          <p:nvPr/>
        </p:nvSpPr>
        <p:spPr>
          <a:xfrm>
            <a:off x="1005840" y="914400"/>
            <a:ext cx="77724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66666"/>
                </a:solidFill>
                <a:latin typeface="Inter"/>
                <a:ea typeface="Inter"/>
                <a:cs typeface="Inter"/>
                <a:sym typeface="Inter"/>
              </a:rPr>
              <a:t>What should happen next to secure the IoT infrastructure at scale.</a:t>
            </a:r>
            <a:endParaRPr b="0" i="0" sz="1400" u="none" cap="none" strike="noStrike">
              <a:solidFill>
                <a:srgbClr val="000000"/>
              </a:solidFill>
              <a:latin typeface="Arial"/>
              <a:ea typeface="Arial"/>
              <a:cs typeface="Arial"/>
              <a:sym typeface="Arial"/>
            </a:endParaRPr>
          </a:p>
        </p:txBody>
      </p:sp>
      <p:sp>
        <p:nvSpPr>
          <p:cNvPr id="205" name="Google Shape;205;p22"/>
          <p:cNvSpPr/>
          <p:nvPr/>
        </p:nvSpPr>
        <p:spPr>
          <a:xfrm>
            <a:off x="731520" y="1417320"/>
            <a:ext cx="274320" cy="274320"/>
          </a:xfrm>
          <a:prstGeom prst="ellipse">
            <a:avLst/>
          </a:prstGeom>
          <a:solidFill>
            <a:srgbClr val="0C5A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1</a:t>
            </a:r>
            <a:endParaRPr b="0" i="0" sz="1400" u="none" cap="none" strike="noStrike">
              <a:solidFill>
                <a:srgbClr val="000000"/>
              </a:solidFill>
              <a:latin typeface="Arial"/>
              <a:ea typeface="Arial"/>
              <a:cs typeface="Arial"/>
              <a:sym typeface="Arial"/>
            </a:endParaRPr>
          </a:p>
        </p:txBody>
      </p:sp>
      <p:sp>
        <p:nvSpPr>
          <p:cNvPr id="206" name="Google Shape;206;p22"/>
          <p:cNvSpPr txBox="1"/>
          <p:nvPr/>
        </p:nvSpPr>
        <p:spPr>
          <a:xfrm>
            <a:off x="1188720" y="137160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Implement broker ACLs to restrict topic access</a:t>
            </a:r>
            <a:endParaRPr b="0" i="0" sz="1400" u="none" cap="none" strike="noStrike">
              <a:solidFill>
                <a:srgbClr val="000000"/>
              </a:solidFill>
              <a:latin typeface="Arial"/>
              <a:ea typeface="Arial"/>
              <a:cs typeface="Arial"/>
              <a:sym typeface="Arial"/>
            </a:endParaRPr>
          </a:p>
        </p:txBody>
      </p:sp>
      <p:sp>
        <p:nvSpPr>
          <p:cNvPr id="207" name="Google Shape;207;p22"/>
          <p:cNvSpPr txBox="1"/>
          <p:nvPr/>
        </p:nvSpPr>
        <p:spPr>
          <a:xfrm>
            <a:off x="1188720" y="169164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Deploy access control lists so each device can only publish or subscribe to its own topic. The current setup allows any authenticated device to read all traffic.</a:t>
            </a:r>
            <a:endParaRPr b="0" i="0" sz="1400" u="none" cap="none" strike="noStrike">
              <a:solidFill>
                <a:srgbClr val="000000"/>
              </a:solidFill>
              <a:latin typeface="Arial"/>
              <a:ea typeface="Arial"/>
              <a:cs typeface="Arial"/>
              <a:sym typeface="Arial"/>
            </a:endParaRPr>
          </a:p>
        </p:txBody>
      </p:sp>
      <p:sp>
        <p:nvSpPr>
          <p:cNvPr id="208" name="Google Shape;208;p22"/>
          <p:cNvSpPr/>
          <p:nvPr/>
        </p:nvSpPr>
        <p:spPr>
          <a:xfrm>
            <a:off x="731520" y="2286000"/>
            <a:ext cx="274320" cy="274320"/>
          </a:xfrm>
          <a:prstGeom prst="ellipse">
            <a:avLst/>
          </a:prstGeom>
          <a:solidFill>
            <a:srgbClr val="0C5A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2</a:t>
            </a:r>
            <a:endParaRPr b="0" i="0" sz="1400" u="none" cap="none" strike="noStrike">
              <a:solidFill>
                <a:srgbClr val="000000"/>
              </a:solidFill>
              <a:latin typeface="Arial"/>
              <a:ea typeface="Arial"/>
              <a:cs typeface="Arial"/>
              <a:sym typeface="Arial"/>
            </a:endParaRPr>
          </a:p>
        </p:txBody>
      </p:sp>
      <p:sp>
        <p:nvSpPr>
          <p:cNvPr id="209" name="Google Shape;209;p22"/>
          <p:cNvSpPr txBox="1"/>
          <p:nvPr/>
        </p:nvSpPr>
        <p:spPr>
          <a:xfrm>
            <a:off x="1188720" y="224028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Automate certificate rotation before expiry</a:t>
            </a:r>
            <a:endParaRPr b="0" i="0" sz="1400" u="none" cap="none" strike="noStrike">
              <a:solidFill>
                <a:srgbClr val="000000"/>
              </a:solidFill>
              <a:latin typeface="Arial"/>
              <a:ea typeface="Arial"/>
              <a:cs typeface="Arial"/>
              <a:sym typeface="Arial"/>
            </a:endParaRPr>
          </a:p>
        </p:txBody>
      </p:sp>
      <p:sp>
        <p:nvSpPr>
          <p:cNvPr id="210" name="Google Shape;210;p22"/>
          <p:cNvSpPr txBox="1"/>
          <p:nvPr/>
        </p:nvSpPr>
        <p:spPr>
          <a:xfrm>
            <a:off x="1188720" y="256032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Device certificates expire. Manual renewal is a single point of failure. Implement automated renewal via a PKI management tool before certificates lapse in production.</a:t>
            </a:r>
            <a:endParaRPr b="0" i="0" sz="1400" u="none" cap="none" strike="noStrike">
              <a:solidFill>
                <a:srgbClr val="000000"/>
              </a:solidFill>
              <a:latin typeface="Arial"/>
              <a:ea typeface="Arial"/>
              <a:cs typeface="Arial"/>
              <a:sym typeface="Arial"/>
            </a:endParaRPr>
          </a:p>
        </p:txBody>
      </p:sp>
      <p:sp>
        <p:nvSpPr>
          <p:cNvPr id="211" name="Google Shape;211;p22"/>
          <p:cNvSpPr/>
          <p:nvPr/>
        </p:nvSpPr>
        <p:spPr>
          <a:xfrm>
            <a:off x="731520" y="3154680"/>
            <a:ext cx="274320" cy="274320"/>
          </a:xfrm>
          <a:prstGeom prst="ellipse">
            <a:avLst/>
          </a:prstGeom>
          <a:solidFill>
            <a:srgbClr val="0C5A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3</a:t>
            </a:r>
            <a:endParaRPr b="0" i="0" sz="1400" u="none" cap="none" strike="noStrike">
              <a:solidFill>
                <a:srgbClr val="000000"/>
              </a:solidFill>
              <a:latin typeface="Arial"/>
              <a:ea typeface="Arial"/>
              <a:cs typeface="Arial"/>
              <a:sym typeface="Arial"/>
            </a:endParaRPr>
          </a:p>
        </p:txBody>
      </p:sp>
      <p:sp>
        <p:nvSpPr>
          <p:cNvPr id="212" name="Google Shape;212;p22"/>
          <p:cNvSpPr txBox="1"/>
          <p:nvPr/>
        </p:nvSpPr>
        <p:spPr>
          <a:xfrm>
            <a:off x="1188720" y="3108960"/>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Deploy the dashboard to a persistent monitoring environment</a:t>
            </a:r>
            <a:endParaRPr b="0" i="0" sz="1400" u="none" cap="none" strike="noStrike">
              <a:solidFill>
                <a:srgbClr val="000000"/>
              </a:solidFill>
              <a:latin typeface="Arial"/>
              <a:ea typeface="Arial"/>
              <a:cs typeface="Arial"/>
              <a:sym typeface="Arial"/>
            </a:endParaRPr>
          </a:p>
        </p:txBody>
      </p:sp>
      <p:sp>
        <p:nvSpPr>
          <p:cNvPr id="213" name="Google Shape;213;p22"/>
          <p:cNvSpPr txBox="1"/>
          <p:nvPr/>
        </p:nvSpPr>
        <p:spPr>
          <a:xfrm>
            <a:off x="1188720" y="3429000"/>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Running the dashboard locally is sufficient for a demo. Production requires a server-hosted instance with alerting integrations so the operations team is notified automatically.</a:t>
            </a:r>
            <a:endParaRPr b="0" i="0" sz="1400" u="none" cap="none" strike="noStrike">
              <a:solidFill>
                <a:srgbClr val="000000"/>
              </a:solidFill>
              <a:latin typeface="Arial"/>
              <a:ea typeface="Arial"/>
              <a:cs typeface="Arial"/>
              <a:sym typeface="Arial"/>
            </a:endParaRPr>
          </a:p>
        </p:txBody>
      </p:sp>
      <p:sp>
        <p:nvSpPr>
          <p:cNvPr id="214" name="Google Shape;214;p22"/>
          <p:cNvSpPr/>
          <p:nvPr/>
        </p:nvSpPr>
        <p:spPr>
          <a:xfrm>
            <a:off x="731520" y="4023359"/>
            <a:ext cx="274320" cy="274320"/>
          </a:xfrm>
          <a:prstGeom prst="ellipse">
            <a:avLst/>
          </a:prstGeom>
          <a:solidFill>
            <a:srgbClr val="0C5A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Inter"/>
                <a:ea typeface="Inter"/>
                <a:cs typeface="Inter"/>
                <a:sym typeface="Inter"/>
              </a:rPr>
              <a:t>4</a:t>
            </a:r>
            <a:endParaRPr b="0" i="0" sz="1400" u="none" cap="none" strike="noStrike">
              <a:solidFill>
                <a:srgbClr val="000000"/>
              </a:solidFill>
              <a:latin typeface="Arial"/>
              <a:ea typeface="Arial"/>
              <a:cs typeface="Arial"/>
              <a:sym typeface="Arial"/>
            </a:endParaRPr>
          </a:p>
        </p:txBody>
      </p:sp>
      <p:sp>
        <p:nvSpPr>
          <p:cNvPr id="215" name="Google Shape;215;p22"/>
          <p:cNvSpPr txBox="1"/>
          <p:nvPr/>
        </p:nvSpPr>
        <p:spPr>
          <a:xfrm>
            <a:off x="1188720" y="3977639"/>
            <a:ext cx="73152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DM Serif Text"/>
                <a:ea typeface="DM Serif Text"/>
                <a:cs typeface="DM Serif Text"/>
                <a:sym typeface="DM Serif Text"/>
              </a:rPr>
              <a:t>Define an incident response playbook</a:t>
            </a:r>
            <a:endParaRPr b="0" i="0" sz="1400" u="none" cap="none" strike="noStrike">
              <a:solidFill>
                <a:srgbClr val="000000"/>
              </a:solidFill>
              <a:latin typeface="Arial"/>
              <a:ea typeface="Arial"/>
              <a:cs typeface="Arial"/>
              <a:sym typeface="Arial"/>
            </a:endParaRPr>
          </a:p>
        </p:txBody>
      </p:sp>
      <p:sp>
        <p:nvSpPr>
          <p:cNvPr id="216" name="Google Shape;216;p22"/>
          <p:cNvSpPr txBox="1"/>
          <p:nvPr/>
        </p:nvSpPr>
        <p:spPr>
          <a:xfrm>
            <a:off x="1188720" y="4297679"/>
            <a:ext cx="7315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66666"/>
                </a:solidFill>
                <a:latin typeface="Inter"/>
                <a:ea typeface="Inter"/>
                <a:cs typeface="Inter"/>
                <a:sym typeface="Inter"/>
              </a:rPr>
              <a:t>The dashboard detects attacks in real time but there is no documented procedure for what happens next. A clear escalation path and response protocol should be established before go-live.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1A"/>
        </a:solidFill>
      </p:bgPr>
    </p:bg>
    <p:spTree>
      <p:nvGrpSpPr>
        <p:cNvPr id="220" name="Shape 220"/>
        <p:cNvGrpSpPr/>
        <p:nvPr/>
      </p:nvGrpSpPr>
      <p:grpSpPr>
        <a:xfrm>
          <a:off x="0" y="0"/>
          <a:ext cx="0" cy="0"/>
          <a:chOff x="0" y="0"/>
          <a:chExt cx="0" cy="0"/>
        </a:xfrm>
      </p:grpSpPr>
      <p:sp>
        <p:nvSpPr>
          <p:cNvPr id="221" name="Google Shape;221;p23"/>
          <p:cNvSpPr txBox="1"/>
          <p:nvPr/>
        </p:nvSpPr>
        <p:spPr>
          <a:xfrm>
            <a:off x="1371600" y="1645920"/>
            <a:ext cx="6400800" cy="914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0" i="0" lang="en-US" sz="4000" u="none" cap="none" strike="noStrike">
                <a:solidFill>
                  <a:srgbClr val="FFFFFF"/>
                </a:solidFill>
                <a:latin typeface="DM Serif Text"/>
                <a:ea typeface="DM Serif Text"/>
                <a:cs typeface="DM Serif Text"/>
                <a:sym typeface="DM Serif Text"/>
              </a:rPr>
              <a:t>Questions?</a:t>
            </a:r>
            <a:endParaRPr b="0" i="0" sz="1400" u="none" cap="none" strike="noStrike">
              <a:solidFill>
                <a:srgbClr val="000000"/>
              </a:solidFill>
              <a:latin typeface="Arial"/>
              <a:ea typeface="Arial"/>
              <a:cs typeface="Arial"/>
              <a:sym typeface="Arial"/>
            </a:endParaRPr>
          </a:p>
        </p:txBody>
      </p:sp>
      <p:sp>
        <p:nvSpPr>
          <p:cNvPr id="222" name="Google Shape;222;p23"/>
          <p:cNvSpPr/>
          <p:nvPr/>
        </p:nvSpPr>
        <p:spPr>
          <a:xfrm>
            <a:off x="3200400" y="2651760"/>
            <a:ext cx="2743200" cy="25400"/>
          </a:xfrm>
          <a:prstGeom prst="rect">
            <a:avLst/>
          </a:prstGeom>
          <a:solidFill>
            <a:srgbClr val="07A65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23"/>
          <p:cNvSpPr txBox="1"/>
          <p:nvPr/>
        </p:nvSpPr>
        <p:spPr>
          <a:xfrm>
            <a:off x="1371600" y="3017520"/>
            <a:ext cx="6400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